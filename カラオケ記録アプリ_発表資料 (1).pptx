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33D9006A-75F8-4347-87F8-E7143089DFFC}">
          <p14:sldIdLst>
            <p14:sldId id="256"/>
            <p14:sldId id="257"/>
            <p14:sldId id="258"/>
            <p14:sldId id="259"/>
            <p14:sldId id="260"/>
            <p14:sldId id="261"/>
            <p14:sldId id="262"/>
            <p14:sldId id="263"/>
            <p14:sldId id="264"/>
            <p14:sldId id="266"/>
            <p14:sldId id="26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3784" autoAdjust="0"/>
  </p:normalViewPr>
  <p:slideViewPr>
    <p:cSldViewPr snapToGrid="0" snapToObjects="1">
      <p:cViewPr>
        <p:scale>
          <a:sx n="60" d="100"/>
          <a:sy n="60" d="100"/>
        </p:scale>
        <p:origin x="884"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4193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6764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518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9908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336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806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2695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964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9607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8878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237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25979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164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5639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2590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3412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9510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35980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kumimoji="1"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kumimoji="1"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kumimoji="1"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F4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508760"/>
            <a:ext cx="7156767" cy="1477328"/>
          </a:xfrm>
          <a:prstGeom prst="rect">
            <a:avLst/>
          </a:prstGeom>
          <a:noFill/>
        </p:spPr>
        <p:txBody>
          <a:bodyPr wrap="none">
            <a:spAutoFit/>
          </a:bodyPr>
          <a:lstStyle/>
          <a:p>
            <a:pPr>
              <a:defRPr sz="4600" b="1">
                <a:solidFill>
                  <a:srgbClr val="F5F5FA"/>
                </a:solidFill>
              </a:defRPr>
            </a:pPr>
            <a:r>
              <a:rPr sz="5400" dirty="0"/>
              <a:t>KARAOKE RECORD</a:t>
            </a:r>
          </a:p>
          <a:p>
            <a:pPr>
              <a:defRPr sz="3000" b="1">
                <a:solidFill>
                  <a:srgbClr val="8B5CFF"/>
                </a:solidFill>
              </a:defRPr>
            </a:pPr>
            <a:r>
              <a:rPr sz="3600" dirty="0" err="1">
                <a:solidFill>
                  <a:srgbClr val="00B0F0"/>
                </a:solidFill>
              </a:rPr>
              <a:t>カラオケ記録アプリ</a:t>
            </a:r>
            <a:endParaRPr sz="3600" dirty="0">
              <a:solidFill>
                <a:srgbClr val="00B0F0"/>
              </a:solidFill>
            </a:endParaRPr>
          </a:p>
        </p:txBody>
      </p:sp>
      <p:sp>
        <p:nvSpPr>
          <p:cNvPr id="6" name="タイトル 5">
            <a:extLst>
              <a:ext uri="{FF2B5EF4-FFF2-40B4-BE49-F238E27FC236}">
                <a16:creationId xmlns:a16="http://schemas.microsoft.com/office/drawing/2014/main" id="{DECE0E26-FC36-456C-8A31-FC8BB94CC0FD}"/>
              </a:ext>
            </a:extLst>
          </p:cNvPr>
          <p:cNvSpPr>
            <a:spLocks noGrp="1"/>
          </p:cNvSpPr>
          <p:nvPr>
            <p:ph type="title"/>
          </p:nvPr>
        </p:nvSpPr>
        <p:spPr>
          <a:xfrm>
            <a:off x="3249716" y="4668202"/>
            <a:ext cx="7772400" cy="1362075"/>
          </a:xfrm>
        </p:spPr>
        <p:txBody>
          <a:bodyPr/>
          <a:lstStyle/>
          <a:p>
            <a:pPr algn="r"/>
            <a:r>
              <a:rPr kumimoji="1" lang="ja-JP" altLang="en-US" dirty="0">
                <a:solidFill>
                  <a:schemeClr val="bg1"/>
                </a:solidFill>
                <a:latin typeface="HG明朝B" panose="02020809000000000000" pitchFamily="17" charset="-128"/>
                <a:ea typeface="HG明朝B" panose="02020809000000000000" pitchFamily="17" charset="-128"/>
              </a:rPr>
              <a:t>安藤綜太</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867038"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1. </a:t>
            </a:r>
            <a:r>
              <a:rPr sz="3600" dirty="0" err="1">
                <a:latin typeface="HGS創英角ｺﾞｼｯｸUB" panose="020B0900000000000000" pitchFamily="50" charset="-128"/>
                <a:ea typeface="HGS創英角ｺﾞｼｯｸUB" panose="020B0900000000000000" pitchFamily="50" charset="-128"/>
              </a:rPr>
              <a:t>アプリを作った理由</a:t>
            </a:r>
            <a:endParaRPr sz="3600" dirty="0">
              <a:latin typeface="HGS創英角ｺﾞｼｯｸUB" panose="020B0900000000000000" pitchFamily="50" charset="-128"/>
              <a:ea typeface="HGS創英角ｺﾞｼｯｸUB" panose="020B0900000000000000" pitchFamily="50" charset="-128"/>
            </a:endParaRPr>
          </a:p>
        </p:txBody>
      </p:sp>
      <p:sp>
        <p:nvSpPr>
          <p:cNvPr id="3" name="TextBox 2"/>
          <p:cNvSpPr txBox="1"/>
          <p:nvPr/>
        </p:nvSpPr>
        <p:spPr>
          <a:xfrm>
            <a:off x="822960" y="1560131"/>
            <a:ext cx="10515600" cy="2962927"/>
          </a:xfrm>
          <a:prstGeom prst="rect">
            <a:avLst/>
          </a:prstGeom>
          <a:noFill/>
        </p:spPr>
        <p:txBody>
          <a:bodyPr wrap="square">
            <a:spAutoFit/>
          </a:bodyPr>
          <a:lstStyle/>
          <a:p>
            <a:pPr>
              <a:lnSpc>
                <a:spcPct val="150000"/>
              </a:lnSpc>
              <a:spcAft>
                <a:spcPts val="1400"/>
              </a:spcAft>
              <a:defRPr sz="2100">
                <a:solidFill>
                  <a:srgbClr val="F5F5FA"/>
                </a:solidFill>
              </a:defRPr>
            </a:pPr>
            <a:r>
              <a:rPr sz="2800" dirty="0"/>
              <a:t>● </a:t>
            </a:r>
            <a:r>
              <a:rPr sz="2800" dirty="0" err="1"/>
              <a:t>カラオケで歌った曲や点数を記録できるアプリを作りたいと考えた</a:t>
            </a:r>
            <a:endParaRPr sz="2800" dirty="0"/>
          </a:p>
          <a:p>
            <a:pPr>
              <a:lnSpc>
                <a:spcPct val="150000"/>
              </a:lnSpc>
              <a:spcAft>
                <a:spcPts val="1400"/>
              </a:spcAft>
              <a:defRPr sz="2100">
                <a:solidFill>
                  <a:srgbClr val="F5F5FA"/>
                </a:solidFill>
              </a:defRPr>
            </a:pPr>
            <a:r>
              <a:rPr sz="2800" dirty="0"/>
              <a:t>● </a:t>
            </a:r>
            <a:r>
              <a:rPr sz="2800" dirty="0" err="1"/>
              <a:t>歌唱履歴を残して、自分の成長を確認できるようにしたかった</a:t>
            </a:r>
            <a:endParaRPr sz="2800" dirty="0"/>
          </a:p>
          <a:p>
            <a:pPr>
              <a:lnSpc>
                <a:spcPct val="150000"/>
              </a:lnSpc>
              <a:spcAft>
                <a:spcPts val="1400"/>
              </a:spcAft>
              <a:defRPr sz="2100">
                <a:solidFill>
                  <a:srgbClr val="F5F5FA"/>
                </a:solidFill>
              </a:defRPr>
            </a:pPr>
            <a:r>
              <a:rPr sz="2800" dirty="0"/>
              <a:t>● </a:t>
            </a:r>
            <a:r>
              <a:rPr sz="2800" dirty="0" err="1"/>
              <a:t>記録だけでなく、ランキングや分析もできるようにした</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360109"/>
            <a:ext cx="4910319"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2. </a:t>
            </a:r>
            <a:r>
              <a:rPr sz="3600" dirty="0" err="1">
                <a:latin typeface="HGS創英角ｺﾞｼｯｸUB" panose="020B0900000000000000" pitchFamily="50" charset="-128"/>
                <a:ea typeface="HGS創英角ｺﾞｼｯｸUB" panose="020B0900000000000000" pitchFamily="50" charset="-128"/>
              </a:rPr>
              <a:t>目的・想定ユーザ</a:t>
            </a:r>
            <a:r>
              <a:rPr sz="3600" dirty="0">
                <a:latin typeface="HGS創英角ｺﾞｼｯｸUB" panose="020B0900000000000000" pitchFamily="50" charset="-128"/>
                <a:ea typeface="HGS創英角ｺﾞｼｯｸUB" panose="020B0900000000000000" pitchFamily="50" charset="-128"/>
              </a:rPr>
              <a:t>ー</a:t>
            </a:r>
          </a:p>
        </p:txBody>
      </p:sp>
      <p:sp>
        <p:nvSpPr>
          <p:cNvPr id="3" name="Rounded Rectangle 2"/>
          <p:cNvSpPr/>
          <p:nvPr/>
        </p:nvSpPr>
        <p:spPr>
          <a:xfrm>
            <a:off x="731520" y="1554480"/>
            <a:ext cx="5303520" cy="347472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想定ユーザ</a:t>
            </a:r>
            <a:r>
              <a:rPr sz="2400" dirty="0"/>
              <a:t>ー</a:t>
            </a:r>
          </a:p>
          <a:p>
            <a:pPr>
              <a:spcAft>
                <a:spcPts val="500"/>
              </a:spcAft>
              <a:defRPr sz="1400">
                <a:solidFill>
                  <a:srgbClr val="F5F5FA"/>
                </a:solidFill>
              </a:defRPr>
            </a:pPr>
            <a:r>
              <a:rPr sz="2000" dirty="0" err="1"/>
              <a:t>カラオケが趣味の人</a:t>
            </a:r>
            <a:endParaRPr sz="2000" dirty="0"/>
          </a:p>
          <a:p>
            <a:pPr>
              <a:spcAft>
                <a:spcPts val="500"/>
              </a:spcAft>
              <a:defRPr sz="1400">
                <a:solidFill>
                  <a:srgbClr val="F5F5FA"/>
                </a:solidFill>
              </a:defRPr>
            </a:pPr>
            <a:r>
              <a:rPr sz="2000" dirty="0" err="1"/>
              <a:t>歌った曲や点数を記録したい人</a:t>
            </a:r>
            <a:endParaRPr sz="2000" dirty="0"/>
          </a:p>
          <a:p>
            <a:pPr>
              <a:spcAft>
                <a:spcPts val="500"/>
              </a:spcAft>
              <a:defRPr sz="1400">
                <a:solidFill>
                  <a:srgbClr val="F5F5FA"/>
                </a:solidFill>
              </a:defRPr>
            </a:pPr>
            <a:r>
              <a:rPr sz="2000" dirty="0" err="1"/>
              <a:t>自分の成長を確認しながら高得点を目指す人</a:t>
            </a:r>
            <a:endParaRPr sz="2000" dirty="0"/>
          </a:p>
        </p:txBody>
      </p:sp>
      <p:sp>
        <p:nvSpPr>
          <p:cNvPr id="4" name="Rounded Rectangle 3"/>
          <p:cNvSpPr/>
          <p:nvPr/>
        </p:nvSpPr>
        <p:spPr>
          <a:xfrm>
            <a:off x="6217920" y="1554480"/>
            <a:ext cx="5212080" cy="347472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アプリの目的</a:t>
            </a:r>
            <a:endParaRPr sz="2400" dirty="0"/>
          </a:p>
          <a:p>
            <a:pPr>
              <a:spcAft>
                <a:spcPts val="500"/>
              </a:spcAft>
              <a:defRPr sz="1400">
                <a:solidFill>
                  <a:srgbClr val="F5F5FA"/>
                </a:solidFill>
              </a:defRPr>
            </a:pPr>
            <a:r>
              <a:rPr sz="2000" dirty="0" err="1"/>
              <a:t>歌唱記録を一つにまとめる</a:t>
            </a:r>
            <a:endParaRPr sz="2000" dirty="0"/>
          </a:p>
          <a:p>
            <a:pPr>
              <a:spcAft>
                <a:spcPts val="500"/>
              </a:spcAft>
              <a:defRPr sz="1400">
                <a:solidFill>
                  <a:srgbClr val="F5F5FA"/>
                </a:solidFill>
              </a:defRPr>
            </a:pPr>
            <a:r>
              <a:rPr sz="2000" dirty="0" err="1"/>
              <a:t>最高点・平均点を確認する</a:t>
            </a:r>
            <a:endParaRPr sz="2000" dirty="0"/>
          </a:p>
          <a:p>
            <a:pPr>
              <a:spcAft>
                <a:spcPts val="500"/>
              </a:spcAft>
              <a:defRPr sz="1400">
                <a:solidFill>
                  <a:srgbClr val="F5F5FA"/>
                </a:solidFill>
              </a:defRPr>
            </a:pPr>
            <a:r>
              <a:rPr sz="2000" dirty="0" err="1"/>
              <a:t>履歴やランキングから成長を確認する</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2593980"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3. </a:t>
            </a:r>
            <a:r>
              <a:rPr sz="3600" dirty="0" err="1">
                <a:latin typeface="HGS創英角ｺﾞｼｯｸUB" panose="020B0900000000000000" pitchFamily="50" charset="-128"/>
                <a:ea typeface="HGS創英角ｺﾞｼｯｸUB" panose="020B0900000000000000" pitchFamily="50" charset="-128"/>
              </a:rPr>
              <a:t>主な機能</a:t>
            </a:r>
            <a:endParaRPr sz="3600" dirty="0">
              <a:latin typeface="HGS創英角ｺﾞｼｯｸUB" panose="020B0900000000000000" pitchFamily="50" charset="-128"/>
              <a:ea typeface="HGS創英角ｺﾞｼｯｸUB" panose="020B0900000000000000" pitchFamily="50" charset="-128"/>
            </a:endParaRPr>
          </a:p>
        </p:txBody>
      </p:sp>
      <p:sp>
        <p:nvSpPr>
          <p:cNvPr id="3" name="Rounded Rectangle 2"/>
          <p:cNvSpPr/>
          <p:nvPr/>
        </p:nvSpPr>
        <p:spPr>
          <a:xfrm>
            <a:off x="640080" y="1371600"/>
            <a:ext cx="3474720" cy="438912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記録</a:t>
            </a:r>
            <a:endParaRPr sz="2400" dirty="0"/>
          </a:p>
          <a:p>
            <a:pPr>
              <a:spcAft>
                <a:spcPts val="500"/>
              </a:spcAft>
              <a:defRPr sz="1400">
                <a:solidFill>
                  <a:srgbClr val="F5F5FA"/>
                </a:solidFill>
              </a:defRPr>
            </a:pPr>
            <a:r>
              <a:rPr sz="2000" dirty="0" err="1"/>
              <a:t>ユーザー登録・ログイン</a:t>
            </a:r>
            <a:endParaRPr sz="2000" dirty="0"/>
          </a:p>
          <a:p>
            <a:pPr>
              <a:spcAft>
                <a:spcPts val="500"/>
              </a:spcAft>
              <a:defRPr sz="1400">
                <a:solidFill>
                  <a:srgbClr val="F5F5FA"/>
                </a:solidFill>
              </a:defRPr>
            </a:pPr>
            <a:r>
              <a:rPr sz="2000" dirty="0" err="1"/>
              <a:t>曲の登録</a:t>
            </a:r>
            <a:endParaRPr sz="2000" dirty="0"/>
          </a:p>
          <a:p>
            <a:pPr>
              <a:spcAft>
                <a:spcPts val="500"/>
              </a:spcAft>
              <a:defRPr sz="1400">
                <a:solidFill>
                  <a:srgbClr val="F5F5FA"/>
                </a:solidFill>
              </a:defRPr>
            </a:pPr>
            <a:r>
              <a:rPr sz="2000" dirty="0" err="1"/>
              <a:t>点数・歌唱日の記録</a:t>
            </a:r>
            <a:endParaRPr sz="2000" dirty="0"/>
          </a:p>
          <a:p>
            <a:pPr>
              <a:spcAft>
                <a:spcPts val="500"/>
              </a:spcAft>
              <a:defRPr sz="1400">
                <a:solidFill>
                  <a:srgbClr val="F5F5FA"/>
                </a:solidFill>
              </a:defRPr>
            </a:pPr>
            <a:r>
              <a:rPr sz="2000" dirty="0" err="1"/>
              <a:t>歌唱履歴の編集・削除</a:t>
            </a:r>
            <a:endParaRPr sz="2000" dirty="0"/>
          </a:p>
        </p:txBody>
      </p:sp>
      <p:sp>
        <p:nvSpPr>
          <p:cNvPr id="4" name="Rounded Rectangle 3"/>
          <p:cNvSpPr/>
          <p:nvPr/>
        </p:nvSpPr>
        <p:spPr>
          <a:xfrm>
            <a:off x="4343400" y="1371600"/>
            <a:ext cx="3474720" cy="438912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検索・管理</a:t>
            </a:r>
            <a:endParaRPr sz="2400" dirty="0"/>
          </a:p>
          <a:p>
            <a:pPr>
              <a:spcAft>
                <a:spcPts val="500"/>
              </a:spcAft>
              <a:defRPr sz="1400">
                <a:solidFill>
                  <a:srgbClr val="F5F5FA"/>
                </a:solidFill>
              </a:defRPr>
            </a:pPr>
            <a:r>
              <a:rPr sz="2000" dirty="0" err="1"/>
              <a:t>曲名・歌手名の検索</a:t>
            </a:r>
            <a:endParaRPr sz="2000" dirty="0"/>
          </a:p>
          <a:p>
            <a:pPr>
              <a:spcAft>
                <a:spcPts val="500"/>
              </a:spcAft>
              <a:defRPr sz="1400">
                <a:solidFill>
                  <a:srgbClr val="F5F5FA"/>
                </a:solidFill>
              </a:defRPr>
            </a:pPr>
            <a:r>
              <a:rPr sz="2000" dirty="0" err="1"/>
              <a:t>お気に入り</a:t>
            </a:r>
            <a:endParaRPr sz="2000" dirty="0"/>
          </a:p>
          <a:p>
            <a:pPr>
              <a:spcAft>
                <a:spcPts val="500"/>
              </a:spcAft>
              <a:defRPr sz="1400">
                <a:solidFill>
                  <a:srgbClr val="F5F5FA"/>
                </a:solidFill>
              </a:defRPr>
            </a:pPr>
            <a:r>
              <a:rPr sz="2000" dirty="0" err="1"/>
              <a:t>曲の管理</a:t>
            </a:r>
            <a:endParaRPr sz="2000" dirty="0"/>
          </a:p>
          <a:p>
            <a:pPr>
              <a:spcAft>
                <a:spcPts val="500"/>
              </a:spcAft>
              <a:defRPr sz="1400">
                <a:solidFill>
                  <a:srgbClr val="F5F5FA"/>
                </a:solidFill>
              </a:defRPr>
            </a:pPr>
            <a:r>
              <a:rPr sz="2000" dirty="0" err="1"/>
              <a:t>プロフィール・設定</a:t>
            </a:r>
            <a:endParaRPr sz="2000" dirty="0"/>
          </a:p>
        </p:txBody>
      </p:sp>
      <p:sp>
        <p:nvSpPr>
          <p:cNvPr id="5" name="Rounded Rectangle 4"/>
          <p:cNvSpPr/>
          <p:nvPr/>
        </p:nvSpPr>
        <p:spPr>
          <a:xfrm>
            <a:off x="8046720" y="1371600"/>
            <a:ext cx="3474720" cy="438912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分析</a:t>
            </a:r>
            <a:endParaRPr sz="2400" dirty="0"/>
          </a:p>
          <a:p>
            <a:pPr>
              <a:spcAft>
                <a:spcPts val="500"/>
              </a:spcAft>
              <a:defRPr sz="1400">
                <a:solidFill>
                  <a:srgbClr val="F5F5FA"/>
                </a:solidFill>
              </a:defRPr>
            </a:pPr>
            <a:r>
              <a:rPr sz="2000" dirty="0" err="1"/>
              <a:t>今週・今月ランキング</a:t>
            </a:r>
            <a:endParaRPr sz="2000" dirty="0"/>
          </a:p>
          <a:p>
            <a:pPr>
              <a:spcAft>
                <a:spcPts val="500"/>
              </a:spcAft>
              <a:defRPr sz="1400">
                <a:solidFill>
                  <a:srgbClr val="F5F5FA"/>
                </a:solidFill>
              </a:defRPr>
            </a:pPr>
            <a:r>
              <a:rPr sz="2000" dirty="0" err="1"/>
              <a:t>年代別ランキング</a:t>
            </a:r>
            <a:endParaRPr sz="2000" dirty="0"/>
          </a:p>
          <a:p>
            <a:pPr>
              <a:spcAft>
                <a:spcPts val="500"/>
              </a:spcAft>
              <a:defRPr sz="1400">
                <a:solidFill>
                  <a:srgbClr val="F5F5FA"/>
                </a:solidFill>
              </a:defRPr>
            </a:pPr>
            <a:r>
              <a:rPr sz="2000" dirty="0" err="1"/>
              <a:t>曲ごとのランキング</a:t>
            </a:r>
            <a:endParaRPr sz="2000" dirty="0"/>
          </a:p>
          <a:p>
            <a:pPr>
              <a:spcAft>
                <a:spcPts val="500"/>
              </a:spcAft>
              <a:defRPr sz="1400">
                <a:solidFill>
                  <a:srgbClr val="F5F5FA"/>
                </a:solidFill>
              </a:defRPr>
            </a:pPr>
            <a:r>
              <a:rPr sz="2000" dirty="0" err="1"/>
              <a:t>成長率・歌唱回数</a:t>
            </a:r>
            <a:endParaRPr sz="2000" dirty="0"/>
          </a:p>
          <a:p>
            <a:pPr>
              <a:spcAft>
                <a:spcPts val="500"/>
              </a:spcAft>
              <a:defRPr sz="1400">
                <a:solidFill>
                  <a:srgbClr val="F5F5FA"/>
                </a:solidFill>
              </a:defRPr>
            </a:pPr>
            <a:r>
              <a:rPr sz="2000" dirty="0" err="1"/>
              <a:t>マイページのグラフ</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2593980"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4. </a:t>
            </a:r>
            <a:r>
              <a:rPr sz="3600" dirty="0" err="1">
                <a:latin typeface="HGS創英角ｺﾞｼｯｸUB" panose="020B0900000000000000" pitchFamily="50" charset="-128"/>
                <a:ea typeface="HGS創英角ｺﾞｼｯｸUB" panose="020B0900000000000000" pitchFamily="50" charset="-128"/>
              </a:rPr>
              <a:t>画面構成</a:t>
            </a:r>
            <a:endParaRPr sz="3600" dirty="0">
              <a:latin typeface="HGS創英角ｺﾞｼｯｸUB" panose="020B0900000000000000" pitchFamily="50" charset="-128"/>
              <a:ea typeface="HGS創英角ｺﾞｼｯｸUB" panose="020B0900000000000000" pitchFamily="50" charset="-128"/>
            </a:endParaRPr>
          </a:p>
        </p:txBody>
      </p:sp>
      <p:sp>
        <p:nvSpPr>
          <p:cNvPr id="3" name="Rounded Rectangle 2"/>
          <p:cNvSpPr/>
          <p:nvPr/>
        </p:nvSpPr>
        <p:spPr>
          <a:xfrm>
            <a:off x="640080" y="132588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ホーム</a:t>
            </a:r>
            <a:endParaRPr sz="2400" dirty="0"/>
          </a:p>
          <a:p>
            <a:pPr>
              <a:spcAft>
                <a:spcPts val="500"/>
              </a:spcAft>
              <a:defRPr sz="1400">
                <a:solidFill>
                  <a:srgbClr val="F5F5FA"/>
                </a:solidFill>
              </a:defRPr>
            </a:pPr>
            <a:r>
              <a:rPr sz="2000" dirty="0" err="1"/>
              <a:t>総合平均点</a:t>
            </a:r>
            <a:endParaRPr sz="2000" dirty="0"/>
          </a:p>
          <a:p>
            <a:pPr>
              <a:spcAft>
                <a:spcPts val="500"/>
              </a:spcAft>
              <a:defRPr sz="1400">
                <a:solidFill>
                  <a:srgbClr val="F5F5FA"/>
                </a:solidFill>
              </a:defRPr>
            </a:pPr>
            <a:r>
              <a:rPr sz="2000" dirty="0" err="1"/>
              <a:t>最高得点</a:t>
            </a:r>
            <a:endParaRPr sz="2000" dirty="0"/>
          </a:p>
          <a:p>
            <a:pPr>
              <a:spcAft>
                <a:spcPts val="500"/>
              </a:spcAft>
              <a:defRPr sz="1400">
                <a:solidFill>
                  <a:srgbClr val="F5F5FA"/>
                </a:solidFill>
              </a:defRPr>
            </a:pPr>
            <a:r>
              <a:rPr sz="2000" dirty="0" err="1"/>
              <a:t>歌った回数</a:t>
            </a:r>
            <a:endParaRPr sz="2000" dirty="0"/>
          </a:p>
          <a:p>
            <a:pPr>
              <a:spcAft>
                <a:spcPts val="500"/>
              </a:spcAft>
              <a:defRPr sz="1400">
                <a:solidFill>
                  <a:srgbClr val="F5F5FA"/>
                </a:solidFill>
              </a:defRPr>
            </a:pPr>
            <a:r>
              <a:rPr sz="2000" dirty="0" err="1"/>
              <a:t>各画面への移動</a:t>
            </a:r>
            <a:endParaRPr sz="2000" dirty="0"/>
          </a:p>
        </p:txBody>
      </p:sp>
      <p:sp>
        <p:nvSpPr>
          <p:cNvPr id="4" name="Rounded Rectangle 3"/>
          <p:cNvSpPr/>
          <p:nvPr/>
        </p:nvSpPr>
        <p:spPr>
          <a:xfrm>
            <a:off x="4343400" y="132588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曲登録</a:t>
            </a:r>
            <a:endParaRPr sz="2400" dirty="0"/>
          </a:p>
          <a:p>
            <a:pPr>
              <a:spcAft>
                <a:spcPts val="500"/>
              </a:spcAft>
              <a:defRPr sz="1400">
                <a:solidFill>
                  <a:srgbClr val="F5F5FA"/>
                </a:solidFill>
              </a:defRPr>
            </a:pPr>
            <a:r>
              <a:rPr sz="2000" dirty="0" err="1"/>
              <a:t>曲名・歌手名</a:t>
            </a:r>
            <a:endParaRPr sz="2000" dirty="0"/>
          </a:p>
          <a:p>
            <a:pPr>
              <a:spcAft>
                <a:spcPts val="500"/>
              </a:spcAft>
              <a:defRPr sz="1400">
                <a:solidFill>
                  <a:srgbClr val="F5F5FA"/>
                </a:solidFill>
              </a:defRPr>
            </a:pPr>
            <a:r>
              <a:rPr sz="2000" dirty="0" err="1"/>
              <a:t>点数</a:t>
            </a:r>
            <a:endParaRPr sz="2000" dirty="0"/>
          </a:p>
          <a:p>
            <a:pPr>
              <a:spcAft>
                <a:spcPts val="500"/>
              </a:spcAft>
              <a:defRPr sz="1400">
                <a:solidFill>
                  <a:srgbClr val="F5F5FA"/>
                </a:solidFill>
              </a:defRPr>
            </a:pPr>
            <a:r>
              <a:rPr sz="2000" dirty="0" err="1"/>
              <a:t>歌唱日</a:t>
            </a:r>
            <a:endParaRPr sz="2000" dirty="0"/>
          </a:p>
          <a:p>
            <a:pPr>
              <a:spcAft>
                <a:spcPts val="500"/>
              </a:spcAft>
              <a:defRPr sz="1400">
                <a:solidFill>
                  <a:srgbClr val="F5F5FA"/>
                </a:solidFill>
              </a:defRPr>
            </a:pPr>
            <a:r>
              <a:rPr sz="2000" dirty="0" err="1"/>
              <a:t>年代・ジャンル</a:t>
            </a:r>
            <a:endParaRPr sz="2000" dirty="0"/>
          </a:p>
        </p:txBody>
      </p:sp>
      <p:sp>
        <p:nvSpPr>
          <p:cNvPr id="5" name="Rounded Rectangle 4"/>
          <p:cNvSpPr/>
          <p:nvPr/>
        </p:nvSpPr>
        <p:spPr>
          <a:xfrm>
            <a:off x="8046720" y="132588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歌唱履歴</a:t>
            </a:r>
            <a:endParaRPr sz="2400" dirty="0"/>
          </a:p>
          <a:p>
            <a:pPr>
              <a:spcAft>
                <a:spcPts val="500"/>
              </a:spcAft>
              <a:defRPr sz="1400">
                <a:solidFill>
                  <a:srgbClr val="F5F5FA"/>
                </a:solidFill>
              </a:defRPr>
            </a:pPr>
            <a:r>
              <a:rPr sz="2000" dirty="0" err="1"/>
              <a:t>曲名・歌手名</a:t>
            </a:r>
            <a:endParaRPr sz="2000" dirty="0"/>
          </a:p>
          <a:p>
            <a:pPr>
              <a:spcAft>
                <a:spcPts val="500"/>
              </a:spcAft>
              <a:defRPr sz="1400">
                <a:solidFill>
                  <a:srgbClr val="F5F5FA"/>
                </a:solidFill>
              </a:defRPr>
            </a:pPr>
            <a:r>
              <a:rPr sz="2000" dirty="0" err="1"/>
              <a:t>点数・歌唱日</a:t>
            </a:r>
            <a:endParaRPr sz="2000" dirty="0"/>
          </a:p>
          <a:p>
            <a:pPr>
              <a:spcAft>
                <a:spcPts val="500"/>
              </a:spcAft>
              <a:defRPr sz="1400">
                <a:solidFill>
                  <a:srgbClr val="F5F5FA"/>
                </a:solidFill>
              </a:defRPr>
            </a:pPr>
            <a:r>
              <a:rPr sz="2000" dirty="0" err="1"/>
              <a:t>検索</a:t>
            </a:r>
            <a:endParaRPr sz="2000" dirty="0"/>
          </a:p>
          <a:p>
            <a:pPr>
              <a:spcAft>
                <a:spcPts val="500"/>
              </a:spcAft>
              <a:defRPr sz="1400">
                <a:solidFill>
                  <a:srgbClr val="F5F5FA"/>
                </a:solidFill>
              </a:defRPr>
            </a:pPr>
            <a:r>
              <a:rPr sz="2000" dirty="0" err="1"/>
              <a:t>編集・削除</a:t>
            </a:r>
            <a:endParaRPr sz="2000" dirty="0"/>
          </a:p>
        </p:txBody>
      </p:sp>
      <p:sp>
        <p:nvSpPr>
          <p:cNvPr id="6" name="Rounded Rectangle 5"/>
          <p:cNvSpPr/>
          <p:nvPr/>
        </p:nvSpPr>
        <p:spPr>
          <a:xfrm>
            <a:off x="640080" y="365760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ランキング</a:t>
            </a:r>
            <a:endParaRPr sz="2400" dirty="0"/>
          </a:p>
          <a:p>
            <a:pPr>
              <a:spcAft>
                <a:spcPts val="500"/>
              </a:spcAft>
              <a:defRPr sz="1400">
                <a:solidFill>
                  <a:srgbClr val="F5F5FA"/>
                </a:solidFill>
              </a:defRPr>
            </a:pPr>
            <a:r>
              <a:rPr sz="2000" dirty="0" err="1"/>
              <a:t>今週・今月</a:t>
            </a:r>
            <a:endParaRPr sz="2000" dirty="0"/>
          </a:p>
          <a:p>
            <a:pPr>
              <a:spcAft>
                <a:spcPts val="500"/>
              </a:spcAft>
              <a:defRPr sz="1400">
                <a:solidFill>
                  <a:srgbClr val="F5F5FA"/>
                </a:solidFill>
              </a:defRPr>
            </a:pPr>
            <a:r>
              <a:rPr sz="2000" dirty="0" err="1"/>
              <a:t>昭和・平成・令和</a:t>
            </a:r>
            <a:endParaRPr sz="2000" dirty="0"/>
          </a:p>
          <a:p>
            <a:pPr>
              <a:spcAft>
                <a:spcPts val="500"/>
              </a:spcAft>
              <a:defRPr sz="1400">
                <a:solidFill>
                  <a:srgbClr val="F5F5FA"/>
                </a:solidFill>
              </a:defRPr>
            </a:pPr>
            <a:r>
              <a:rPr sz="2000" dirty="0" err="1"/>
              <a:t>曲別</a:t>
            </a:r>
            <a:endParaRPr sz="2000" dirty="0"/>
          </a:p>
          <a:p>
            <a:pPr>
              <a:spcAft>
                <a:spcPts val="500"/>
              </a:spcAft>
              <a:defRPr sz="1400">
                <a:solidFill>
                  <a:srgbClr val="F5F5FA"/>
                </a:solidFill>
              </a:defRPr>
            </a:pPr>
            <a:r>
              <a:rPr sz="2000" dirty="0" err="1"/>
              <a:t>成長率</a:t>
            </a:r>
            <a:endParaRPr sz="2000" dirty="0"/>
          </a:p>
        </p:txBody>
      </p:sp>
      <p:sp>
        <p:nvSpPr>
          <p:cNvPr id="7" name="Rounded Rectangle 6"/>
          <p:cNvSpPr/>
          <p:nvPr/>
        </p:nvSpPr>
        <p:spPr>
          <a:xfrm>
            <a:off x="4343400" y="365760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マイページ</a:t>
            </a:r>
            <a:endParaRPr sz="2400" dirty="0"/>
          </a:p>
          <a:p>
            <a:pPr>
              <a:spcAft>
                <a:spcPts val="500"/>
              </a:spcAft>
              <a:defRPr sz="1400">
                <a:solidFill>
                  <a:srgbClr val="F5F5FA"/>
                </a:solidFill>
              </a:defRPr>
            </a:pPr>
            <a:r>
              <a:rPr sz="2000" dirty="0" err="1"/>
              <a:t>最高点・平均点</a:t>
            </a:r>
            <a:endParaRPr sz="2000" dirty="0"/>
          </a:p>
          <a:p>
            <a:pPr>
              <a:spcAft>
                <a:spcPts val="500"/>
              </a:spcAft>
              <a:defRPr sz="1400">
                <a:solidFill>
                  <a:srgbClr val="F5F5FA"/>
                </a:solidFill>
              </a:defRPr>
            </a:pPr>
            <a:r>
              <a:rPr sz="2000" dirty="0" err="1"/>
              <a:t>点数推移</a:t>
            </a:r>
            <a:endParaRPr sz="2000" dirty="0"/>
          </a:p>
          <a:p>
            <a:pPr>
              <a:spcAft>
                <a:spcPts val="500"/>
              </a:spcAft>
              <a:defRPr sz="1400">
                <a:solidFill>
                  <a:srgbClr val="F5F5FA"/>
                </a:solidFill>
              </a:defRPr>
            </a:pPr>
            <a:r>
              <a:rPr sz="2000" dirty="0" err="1"/>
              <a:t>ジャンル別</a:t>
            </a:r>
            <a:endParaRPr sz="2000" dirty="0"/>
          </a:p>
          <a:p>
            <a:pPr>
              <a:spcAft>
                <a:spcPts val="500"/>
              </a:spcAft>
              <a:defRPr sz="1400">
                <a:solidFill>
                  <a:srgbClr val="F5F5FA"/>
                </a:solidFill>
              </a:defRPr>
            </a:pPr>
            <a:r>
              <a:rPr sz="2000" dirty="0" err="1"/>
              <a:t>月別歌唱回数</a:t>
            </a:r>
            <a:endParaRPr sz="2000" dirty="0"/>
          </a:p>
        </p:txBody>
      </p:sp>
      <p:sp>
        <p:nvSpPr>
          <p:cNvPr id="8" name="Rounded Rectangle 7"/>
          <p:cNvSpPr/>
          <p:nvPr/>
        </p:nvSpPr>
        <p:spPr>
          <a:xfrm>
            <a:off x="8046720" y="3657600"/>
            <a:ext cx="3474720" cy="2011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設定・プロフィール</a:t>
            </a:r>
            <a:endParaRPr sz="2400" dirty="0"/>
          </a:p>
          <a:p>
            <a:pPr>
              <a:spcAft>
                <a:spcPts val="500"/>
              </a:spcAft>
              <a:defRPr sz="1400">
                <a:solidFill>
                  <a:srgbClr val="F5F5FA"/>
                </a:solidFill>
              </a:defRPr>
            </a:pPr>
            <a:r>
              <a:rPr sz="2000" dirty="0" err="1"/>
              <a:t>ユーザー情報</a:t>
            </a:r>
            <a:endParaRPr sz="2000" dirty="0"/>
          </a:p>
          <a:p>
            <a:pPr>
              <a:spcAft>
                <a:spcPts val="500"/>
              </a:spcAft>
              <a:defRPr sz="1400">
                <a:solidFill>
                  <a:srgbClr val="F5F5FA"/>
                </a:solidFill>
              </a:defRPr>
            </a:pPr>
            <a:r>
              <a:rPr sz="2000" dirty="0" err="1"/>
              <a:t>生年月日</a:t>
            </a:r>
            <a:endParaRPr sz="2000" dirty="0"/>
          </a:p>
          <a:p>
            <a:pPr>
              <a:spcAft>
                <a:spcPts val="500"/>
              </a:spcAft>
              <a:defRPr sz="1400">
                <a:solidFill>
                  <a:srgbClr val="F5F5FA"/>
                </a:solidFill>
              </a:defRPr>
            </a:pPr>
            <a:r>
              <a:rPr sz="2000" dirty="0" err="1"/>
              <a:t>パスワード変更</a:t>
            </a:r>
            <a:endParaRPr sz="2000" dirty="0"/>
          </a:p>
          <a:p>
            <a:pPr>
              <a:spcAft>
                <a:spcPts val="500"/>
              </a:spcAft>
              <a:defRPr sz="1400">
                <a:solidFill>
                  <a:srgbClr val="F5F5FA"/>
                </a:solidFill>
              </a:defRPr>
            </a:pPr>
            <a:r>
              <a:rPr sz="2000" dirty="0" err="1"/>
              <a:t>アカウント管理</a:t>
            </a:r>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520516"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5. </a:t>
            </a:r>
            <a:r>
              <a:rPr sz="3600" dirty="0" err="1">
                <a:latin typeface="HGS創英角ｺﾞｼｯｸUB" panose="020B0900000000000000" pitchFamily="50" charset="-128"/>
                <a:ea typeface="HGS創英角ｺﾞｼｯｸUB" panose="020B0900000000000000" pitchFamily="50" charset="-128"/>
              </a:rPr>
              <a:t>使用した技術</a:t>
            </a:r>
            <a:endParaRPr sz="3600" dirty="0">
              <a:latin typeface="HGS創英角ｺﾞｼｯｸUB" panose="020B0900000000000000" pitchFamily="50" charset="-128"/>
              <a:ea typeface="HGS創英角ｺﾞｼｯｸUB" panose="020B0900000000000000" pitchFamily="50" charset="-128"/>
            </a:endParaRPr>
          </a:p>
        </p:txBody>
      </p:sp>
      <p:sp>
        <p:nvSpPr>
          <p:cNvPr id="3" name="Rounded Rectangle 2"/>
          <p:cNvSpPr/>
          <p:nvPr/>
        </p:nvSpPr>
        <p:spPr>
          <a:xfrm>
            <a:off x="731520" y="1417320"/>
            <a:ext cx="3383280" cy="4297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バックエンド</a:t>
            </a:r>
            <a:endParaRPr sz="2400" dirty="0"/>
          </a:p>
          <a:p>
            <a:pPr>
              <a:spcAft>
                <a:spcPts val="500"/>
              </a:spcAft>
              <a:defRPr sz="1400">
                <a:solidFill>
                  <a:srgbClr val="F5F5FA"/>
                </a:solidFill>
              </a:defRPr>
            </a:pPr>
            <a:r>
              <a:rPr sz="2000" dirty="0"/>
              <a:t>Laravel 12</a:t>
            </a:r>
          </a:p>
          <a:p>
            <a:pPr>
              <a:spcAft>
                <a:spcPts val="500"/>
              </a:spcAft>
              <a:defRPr sz="1400">
                <a:solidFill>
                  <a:srgbClr val="F5F5FA"/>
                </a:solidFill>
              </a:defRPr>
            </a:pPr>
            <a:r>
              <a:rPr sz="2000" dirty="0"/>
              <a:t>PHP 8.2</a:t>
            </a:r>
          </a:p>
          <a:p>
            <a:pPr>
              <a:spcAft>
                <a:spcPts val="500"/>
              </a:spcAft>
              <a:defRPr sz="1400">
                <a:solidFill>
                  <a:srgbClr val="F5F5FA"/>
                </a:solidFill>
              </a:defRPr>
            </a:pPr>
            <a:r>
              <a:rPr sz="2000" dirty="0"/>
              <a:t>Composer</a:t>
            </a:r>
          </a:p>
        </p:txBody>
      </p:sp>
      <p:sp>
        <p:nvSpPr>
          <p:cNvPr id="4" name="Rounded Rectangle 3"/>
          <p:cNvSpPr/>
          <p:nvPr/>
        </p:nvSpPr>
        <p:spPr>
          <a:xfrm>
            <a:off x="4389120" y="1417320"/>
            <a:ext cx="3383280" cy="4297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データベース・環境</a:t>
            </a:r>
            <a:endParaRPr sz="2400" dirty="0"/>
          </a:p>
          <a:p>
            <a:pPr>
              <a:spcAft>
                <a:spcPts val="500"/>
              </a:spcAft>
              <a:defRPr sz="1400">
                <a:solidFill>
                  <a:srgbClr val="F5F5FA"/>
                </a:solidFill>
              </a:defRPr>
            </a:pPr>
            <a:r>
              <a:rPr sz="2000" dirty="0"/>
              <a:t>MySQL</a:t>
            </a:r>
          </a:p>
          <a:p>
            <a:pPr>
              <a:spcAft>
                <a:spcPts val="500"/>
              </a:spcAft>
              <a:defRPr sz="1400">
                <a:solidFill>
                  <a:srgbClr val="F5F5FA"/>
                </a:solidFill>
              </a:defRPr>
            </a:pPr>
            <a:r>
              <a:rPr sz="2000" dirty="0"/>
              <a:t>XAMPP</a:t>
            </a:r>
          </a:p>
          <a:p>
            <a:pPr>
              <a:spcAft>
                <a:spcPts val="500"/>
              </a:spcAft>
              <a:defRPr sz="1400">
                <a:solidFill>
                  <a:srgbClr val="F5F5FA"/>
                </a:solidFill>
              </a:defRPr>
            </a:pPr>
            <a:r>
              <a:rPr sz="2000" dirty="0"/>
              <a:t>phpMyAdmin</a:t>
            </a:r>
          </a:p>
        </p:txBody>
      </p:sp>
      <p:sp>
        <p:nvSpPr>
          <p:cNvPr id="5" name="Rounded Rectangle 4"/>
          <p:cNvSpPr/>
          <p:nvPr/>
        </p:nvSpPr>
        <p:spPr>
          <a:xfrm>
            <a:off x="8046720" y="1417320"/>
            <a:ext cx="3383280" cy="4297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フロント・管理</a:t>
            </a:r>
            <a:endParaRPr sz="2400" dirty="0"/>
          </a:p>
          <a:p>
            <a:pPr>
              <a:spcAft>
                <a:spcPts val="500"/>
              </a:spcAft>
              <a:defRPr sz="1400">
                <a:solidFill>
                  <a:srgbClr val="F5F5FA"/>
                </a:solidFill>
              </a:defRPr>
            </a:pPr>
            <a:r>
              <a:rPr sz="2000" dirty="0"/>
              <a:t>Blade / HTML / CSS</a:t>
            </a:r>
          </a:p>
          <a:p>
            <a:pPr>
              <a:spcAft>
                <a:spcPts val="500"/>
              </a:spcAft>
              <a:defRPr sz="1400">
                <a:solidFill>
                  <a:srgbClr val="F5F5FA"/>
                </a:solidFill>
              </a:defRPr>
            </a:pPr>
            <a:r>
              <a:rPr sz="2000" dirty="0"/>
              <a:t>JavaScript / </a:t>
            </a:r>
            <a:r>
              <a:rPr sz="2000" dirty="0" err="1"/>
              <a:t>Vite</a:t>
            </a:r>
            <a:endParaRPr sz="2000" dirty="0"/>
          </a:p>
          <a:p>
            <a:pPr>
              <a:spcAft>
                <a:spcPts val="500"/>
              </a:spcAft>
              <a:defRPr sz="1400">
                <a:solidFill>
                  <a:srgbClr val="F5F5FA"/>
                </a:solidFill>
              </a:defRPr>
            </a:pPr>
            <a:r>
              <a:rPr sz="2000" dirty="0"/>
              <a:t>VS Code / GitHub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425938" cy="646331"/>
          </a:xfrm>
          <a:prstGeom prst="rect">
            <a:avLst/>
          </a:prstGeom>
          <a:noFill/>
        </p:spPr>
        <p:txBody>
          <a:bodyPr wrap="none">
            <a:spAutoFit/>
          </a:bodyPr>
          <a:lstStyle/>
          <a:p>
            <a:pPr>
              <a:defRPr sz="3000" b="1">
                <a:solidFill>
                  <a:srgbClr val="F5F5FA"/>
                </a:solidFill>
              </a:defRPr>
            </a:pPr>
            <a:r>
              <a:rPr sz="3600" dirty="0"/>
              <a:t>6. </a:t>
            </a:r>
            <a:r>
              <a:rPr sz="3600" dirty="0" err="1">
                <a:latin typeface="HGS創英角ｺﾞｼｯｸUB" panose="020B0900000000000000" pitchFamily="50" charset="-128"/>
                <a:ea typeface="HGS創英角ｺﾞｼｯｸUB" panose="020B0900000000000000" pitchFamily="50" charset="-128"/>
              </a:rPr>
              <a:t>データベース</a:t>
            </a:r>
            <a:endParaRPr sz="3600" dirty="0">
              <a:latin typeface="HGS創英角ｺﾞｼｯｸUB" panose="020B0900000000000000" pitchFamily="50" charset="-128"/>
              <a:ea typeface="HGS創英角ｺﾞｼｯｸUB" panose="020B0900000000000000" pitchFamily="50" charset="-128"/>
            </a:endParaRPr>
          </a:p>
        </p:txBody>
      </p:sp>
      <p:sp>
        <p:nvSpPr>
          <p:cNvPr id="3" name="TextBox 2"/>
          <p:cNvSpPr txBox="1"/>
          <p:nvPr/>
        </p:nvSpPr>
        <p:spPr>
          <a:xfrm>
            <a:off x="822960" y="1508760"/>
            <a:ext cx="10515600" cy="3517245"/>
          </a:xfrm>
          <a:prstGeom prst="rect">
            <a:avLst/>
          </a:prstGeom>
          <a:noFill/>
        </p:spPr>
        <p:txBody>
          <a:bodyPr wrap="square">
            <a:spAutoFit/>
          </a:bodyPr>
          <a:lstStyle/>
          <a:p>
            <a:pPr>
              <a:lnSpc>
                <a:spcPct val="150000"/>
              </a:lnSpc>
              <a:spcAft>
                <a:spcPts val="1400"/>
              </a:spcAft>
              <a:defRPr sz="1800">
                <a:solidFill>
                  <a:srgbClr val="F5F5FA"/>
                </a:solidFill>
              </a:defRPr>
            </a:pPr>
            <a:r>
              <a:rPr sz="2400" dirty="0"/>
              <a:t>● </a:t>
            </a:r>
            <a:r>
              <a:rPr sz="2400" dirty="0" err="1"/>
              <a:t>users：ユーザー情報を管理</a:t>
            </a:r>
            <a:endParaRPr sz="2400" dirty="0"/>
          </a:p>
          <a:p>
            <a:pPr>
              <a:lnSpc>
                <a:spcPct val="150000"/>
              </a:lnSpc>
              <a:spcAft>
                <a:spcPts val="1400"/>
              </a:spcAft>
              <a:defRPr sz="1800">
                <a:solidFill>
                  <a:srgbClr val="F5F5FA"/>
                </a:solidFill>
              </a:defRPr>
            </a:pPr>
            <a:r>
              <a:rPr sz="2400" dirty="0"/>
              <a:t>● </a:t>
            </a:r>
            <a:r>
              <a:rPr sz="2400" dirty="0" err="1"/>
              <a:t>songs：曲名・歌手名・年代・ジャンルなどを管理</a:t>
            </a:r>
            <a:endParaRPr sz="2400" dirty="0"/>
          </a:p>
          <a:p>
            <a:pPr>
              <a:lnSpc>
                <a:spcPct val="150000"/>
              </a:lnSpc>
              <a:spcAft>
                <a:spcPts val="1400"/>
              </a:spcAft>
              <a:defRPr sz="1800">
                <a:solidFill>
                  <a:srgbClr val="F5F5FA"/>
                </a:solidFill>
              </a:defRPr>
            </a:pPr>
            <a:r>
              <a:rPr sz="2400" dirty="0"/>
              <a:t>● </a:t>
            </a:r>
            <a:r>
              <a:rPr sz="2400" dirty="0" err="1"/>
              <a:t>records：誰が、どの曲を、何点で、いつ歌ったかを管理</a:t>
            </a:r>
            <a:endParaRPr sz="2400" dirty="0"/>
          </a:p>
          <a:p>
            <a:pPr>
              <a:lnSpc>
                <a:spcPct val="150000"/>
              </a:lnSpc>
              <a:spcAft>
                <a:spcPts val="1400"/>
              </a:spcAft>
              <a:defRPr sz="1800">
                <a:solidFill>
                  <a:srgbClr val="F5F5FA"/>
                </a:solidFill>
              </a:defRPr>
            </a:pPr>
            <a:r>
              <a:rPr sz="2400" dirty="0"/>
              <a:t>● </a:t>
            </a:r>
            <a:r>
              <a:rPr sz="2400" dirty="0" err="1"/>
              <a:t>favorites：お気に入り登録した曲を管理</a:t>
            </a:r>
            <a:endParaRPr sz="2400" dirty="0"/>
          </a:p>
          <a:p>
            <a:pPr>
              <a:lnSpc>
                <a:spcPct val="150000"/>
              </a:lnSpc>
              <a:spcAft>
                <a:spcPts val="1400"/>
              </a:spcAft>
              <a:defRPr sz="1800">
                <a:solidFill>
                  <a:srgbClr val="F5F5FA"/>
                </a:solidFill>
              </a:defRPr>
            </a:pPr>
            <a:r>
              <a:rPr sz="2400" dirty="0"/>
              <a:t>● </a:t>
            </a:r>
            <a:r>
              <a:rPr sz="2400" dirty="0" err="1"/>
              <a:t>ユーザ</a:t>
            </a:r>
            <a:r>
              <a:rPr sz="2400" dirty="0"/>
              <a:t>ー・</a:t>
            </a:r>
            <a:r>
              <a:rPr sz="2400" dirty="0" err="1"/>
              <a:t>曲・歌唱履歴を関連付けてデータを管理</a:t>
            </a:r>
            <a:endParaRPr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360109"/>
            <a:ext cx="3983783"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7. </a:t>
            </a:r>
            <a:r>
              <a:rPr sz="3600" dirty="0" err="1">
                <a:latin typeface="HGS創英角ｺﾞｼｯｸUB" panose="020B0900000000000000" pitchFamily="50" charset="-128"/>
                <a:ea typeface="HGS創英角ｺﾞｼｯｸUB" panose="020B0900000000000000" pitchFamily="50" charset="-128"/>
              </a:rPr>
              <a:t>デザインの工夫</a:t>
            </a:r>
            <a:endParaRPr sz="3600" dirty="0">
              <a:latin typeface="HGS創英角ｺﾞｼｯｸUB" panose="020B0900000000000000" pitchFamily="50" charset="-128"/>
              <a:ea typeface="HGS創英角ｺﾞｼｯｸUB" panose="020B0900000000000000" pitchFamily="50" charset="-128"/>
            </a:endParaRPr>
          </a:p>
        </p:txBody>
      </p:sp>
      <p:sp>
        <p:nvSpPr>
          <p:cNvPr id="3" name="Rounded Rectangle 2"/>
          <p:cNvSpPr/>
          <p:nvPr/>
        </p:nvSpPr>
        <p:spPr>
          <a:xfrm>
            <a:off x="731520" y="1463040"/>
            <a:ext cx="5212080" cy="4297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見た目</a:t>
            </a:r>
            <a:endParaRPr sz="2400" dirty="0"/>
          </a:p>
          <a:p>
            <a:pPr>
              <a:spcAft>
                <a:spcPts val="500"/>
              </a:spcAft>
              <a:defRPr sz="1400">
                <a:solidFill>
                  <a:srgbClr val="F5F5FA"/>
                </a:solidFill>
              </a:defRPr>
            </a:pPr>
            <a:r>
              <a:rPr sz="2000" dirty="0" err="1"/>
              <a:t>濃いネイビーをベースにしたデザイン</a:t>
            </a:r>
            <a:endParaRPr sz="2000" dirty="0"/>
          </a:p>
          <a:p>
            <a:pPr>
              <a:spcAft>
                <a:spcPts val="500"/>
              </a:spcAft>
              <a:defRPr sz="1400">
                <a:solidFill>
                  <a:srgbClr val="F5F5FA"/>
                </a:solidFill>
              </a:defRPr>
            </a:pPr>
            <a:r>
              <a:rPr sz="2000" dirty="0" err="1"/>
              <a:t>紫・ピンクのアクセントカラ</a:t>
            </a:r>
            <a:r>
              <a:rPr sz="2000" dirty="0"/>
              <a:t>ー</a:t>
            </a:r>
          </a:p>
          <a:p>
            <a:pPr>
              <a:spcAft>
                <a:spcPts val="500"/>
              </a:spcAft>
              <a:defRPr sz="1400">
                <a:solidFill>
                  <a:srgbClr val="F5F5FA"/>
                </a:solidFill>
              </a:defRPr>
            </a:pPr>
            <a:r>
              <a:rPr sz="2000" dirty="0" err="1"/>
              <a:t>カード型のレイアウト</a:t>
            </a:r>
            <a:endParaRPr sz="2000" dirty="0"/>
          </a:p>
          <a:p>
            <a:pPr>
              <a:spcAft>
                <a:spcPts val="500"/>
              </a:spcAft>
              <a:defRPr sz="1400">
                <a:solidFill>
                  <a:srgbClr val="F5F5FA"/>
                </a:solidFill>
              </a:defRPr>
            </a:pPr>
            <a:r>
              <a:rPr sz="2000" dirty="0" err="1"/>
              <a:t>スマートフォンでも見やすい構成</a:t>
            </a:r>
            <a:endParaRPr sz="2000" dirty="0"/>
          </a:p>
        </p:txBody>
      </p:sp>
      <p:sp>
        <p:nvSpPr>
          <p:cNvPr id="4" name="Rounded Rectangle 3"/>
          <p:cNvSpPr/>
          <p:nvPr/>
        </p:nvSpPr>
        <p:spPr>
          <a:xfrm>
            <a:off x="6217920" y="1463040"/>
            <a:ext cx="5212080" cy="4297680"/>
          </a:xfrm>
          <a:prstGeom prst="roundRect">
            <a:avLst/>
          </a:prstGeom>
          <a:solidFill>
            <a:srgbClr val="161934"/>
          </a:solidFill>
          <a:ln>
            <a:solidFill>
              <a:srgbClr val="2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FF4DB8"/>
                </a:solidFill>
              </a:defRPr>
            </a:pPr>
            <a:r>
              <a:rPr sz="2400" dirty="0" err="1"/>
              <a:t>使いやすさ</a:t>
            </a:r>
            <a:endParaRPr sz="2400" dirty="0"/>
          </a:p>
          <a:p>
            <a:pPr>
              <a:spcAft>
                <a:spcPts val="500"/>
              </a:spcAft>
              <a:defRPr sz="1400">
                <a:solidFill>
                  <a:srgbClr val="F5F5FA"/>
                </a:solidFill>
              </a:defRPr>
            </a:pPr>
            <a:r>
              <a:rPr sz="2000" dirty="0" err="1"/>
              <a:t>点数を大きく表示</a:t>
            </a:r>
            <a:endParaRPr sz="2000" dirty="0"/>
          </a:p>
          <a:p>
            <a:pPr>
              <a:spcAft>
                <a:spcPts val="500"/>
              </a:spcAft>
              <a:defRPr sz="1400">
                <a:solidFill>
                  <a:srgbClr val="F5F5FA"/>
                </a:solidFill>
              </a:defRPr>
            </a:pPr>
            <a:r>
              <a:rPr sz="2000" dirty="0" err="1"/>
              <a:t>固定の下部ナビゲーション</a:t>
            </a:r>
            <a:endParaRPr sz="2000" dirty="0"/>
          </a:p>
          <a:p>
            <a:pPr>
              <a:spcAft>
                <a:spcPts val="500"/>
              </a:spcAft>
              <a:defRPr sz="1400">
                <a:solidFill>
                  <a:srgbClr val="F5F5FA"/>
                </a:solidFill>
              </a:defRPr>
            </a:pPr>
            <a:r>
              <a:rPr sz="2000" dirty="0" err="1"/>
              <a:t>検索・編集・削除を用意</a:t>
            </a:r>
            <a:endParaRPr sz="2000" dirty="0"/>
          </a:p>
          <a:p>
            <a:pPr>
              <a:spcAft>
                <a:spcPts val="500"/>
              </a:spcAft>
              <a:defRPr sz="1400">
                <a:solidFill>
                  <a:srgbClr val="F5F5FA"/>
                </a:solidFill>
              </a:defRPr>
            </a:pPr>
            <a:r>
              <a:rPr sz="2000" dirty="0" err="1"/>
              <a:t>ホームから各機能へ移動しやすくした</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910319" cy="646331"/>
          </a:xfrm>
          <a:prstGeom prst="rect">
            <a:avLst/>
          </a:prstGeom>
          <a:noFill/>
        </p:spPr>
        <p:txBody>
          <a:bodyPr wrap="none">
            <a:spAutoFit/>
          </a:bodyPr>
          <a:lstStyle/>
          <a:p>
            <a:pPr>
              <a:defRPr sz="3000" b="1">
                <a:solidFill>
                  <a:srgbClr val="F5F5FA"/>
                </a:solidFill>
              </a:defRPr>
            </a:pPr>
            <a:r>
              <a:rPr sz="3600" dirty="0">
                <a:latin typeface="HGS創英角ｺﾞｼｯｸUB" panose="020B0900000000000000" pitchFamily="50" charset="-128"/>
                <a:ea typeface="HGS創英角ｺﾞｼｯｸUB" panose="020B0900000000000000" pitchFamily="50" charset="-128"/>
              </a:rPr>
              <a:t>8. </a:t>
            </a:r>
            <a:r>
              <a:rPr sz="3600" dirty="0" err="1">
                <a:latin typeface="HGS創英角ｺﾞｼｯｸUB" panose="020B0900000000000000" pitchFamily="50" charset="-128"/>
                <a:ea typeface="HGS創英角ｺﾞｼｯｸUB" panose="020B0900000000000000" pitchFamily="50" charset="-128"/>
              </a:rPr>
              <a:t>開発で苦労したこと</a:t>
            </a:r>
            <a:endParaRPr sz="3600" dirty="0">
              <a:latin typeface="HGS創英角ｺﾞｼｯｸUB" panose="020B0900000000000000" pitchFamily="50" charset="-128"/>
              <a:ea typeface="HGS創英角ｺﾞｼｯｸUB" panose="020B0900000000000000" pitchFamily="50" charset="-128"/>
            </a:endParaRPr>
          </a:p>
        </p:txBody>
      </p:sp>
      <p:sp>
        <p:nvSpPr>
          <p:cNvPr id="3" name="TextBox 2"/>
          <p:cNvSpPr txBox="1"/>
          <p:nvPr/>
        </p:nvSpPr>
        <p:spPr>
          <a:xfrm>
            <a:off x="822960" y="1508760"/>
            <a:ext cx="10515600" cy="3517245"/>
          </a:xfrm>
          <a:prstGeom prst="rect">
            <a:avLst/>
          </a:prstGeom>
          <a:noFill/>
        </p:spPr>
        <p:txBody>
          <a:bodyPr wrap="square">
            <a:spAutoFit/>
          </a:bodyPr>
          <a:lstStyle/>
          <a:p>
            <a:pPr>
              <a:lnSpc>
                <a:spcPct val="150000"/>
              </a:lnSpc>
              <a:spcAft>
                <a:spcPts val="1400"/>
              </a:spcAft>
              <a:defRPr sz="1800">
                <a:solidFill>
                  <a:srgbClr val="F5F5FA"/>
                </a:solidFill>
              </a:defRPr>
            </a:pPr>
            <a:r>
              <a:rPr sz="2400" dirty="0"/>
              <a:t>● </a:t>
            </a:r>
            <a:r>
              <a:rPr sz="2400" dirty="0" err="1"/>
              <a:t>Laravelのルーティングやコントローラーの仕組みを理解すること</a:t>
            </a:r>
            <a:endParaRPr sz="2400" dirty="0"/>
          </a:p>
          <a:p>
            <a:pPr>
              <a:lnSpc>
                <a:spcPct val="150000"/>
              </a:lnSpc>
              <a:spcAft>
                <a:spcPts val="1400"/>
              </a:spcAft>
              <a:defRPr sz="1800">
                <a:solidFill>
                  <a:srgbClr val="F5F5FA"/>
                </a:solidFill>
              </a:defRPr>
            </a:pPr>
            <a:r>
              <a:rPr sz="2400" dirty="0"/>
              <a:t>● </a:t>
            </a:r>
            <a:r>
              <a:rPr sz="2400" dirty="0" err="1"/>
              <a:t>MySQLとの接続やマイグレーションを正しく設定すること</a:t>
            </a:r>
            <a:endParaRPr sz="2400" dirty="0"/>
          </a:p>
          <a:p>
            <a:pPr>
              <a:lnSpc>
                <a:spcPct val="150000"/>
              </a:lnSpc>
              <a:spcAft>
                <a:spcPts val="1400"/>
              </a:spcAft>
              <a:defRPr sz="1800">
                <a:solidFill>
                  <a:srgbClr val="F5F5FA"/>
                </a:solidFill>
              </a:defRPr>
            </a:pPr>
            <a:r>
              <a:rPr sz="2400" dirty="0"/>
              <a:t>● </a:t>
            </a:r>
            <a:r>
              <a:rPr sz="2400" dirty="0" err="1"/>
              <a:t>画面とデータベースを連携して、登録したデータを表示すること</a:t>
            </a:r>
            <a:endParaRPr sz="2400" dirty="0"/>
          </a:p>
          <a:p>
            <a:pPr>
              <a:lnSpc>
                <a:spcPct val="150000"/>
              </a:lnSpc>
              <a:spcAft>
                <a:spcPts val="1400"/>
              </a:spcAft>
              <a:defRPr sz="1800">
                <a:solidFill>
                  <a:srgbClr val="F5F5FA"/>
                </a:solidFill>
              </a:defRPr>
            </a:pPr>
            <a:r>
              <a:rPr sz="2400" dirty="0"/>
              <a:t>● </a:t>
            </a:r>
            <a:r>
              <a:rPr sz="2400" dirty="0" err="1"/>
              <a:t>機能を追加するたびに、既存の画面や処理への影響を確認すること</a:t>
            </a:r>
            <a:endParaRPr sz="2400" dirty="0"/>
          </a:p>
          <a:p>
            <a:pPr>
              <a:lnSpc>
                <a:spcPct val="150000"/>
              </a:lnSpc>
              <a:spcAft>
                <a:spcPts val="1400"/>
              </a:spcAft>
              <a:defRPr sz="1800">
                <a:solidFill>
                  <a:srgbClr val="F5F5FA"/>
                </a:solidFill>
              </a:defRPr>
            </a:pPr>
            <a:r>
              <a:rPr sz="2400" dirty="0"/>
              <a:t>● </a:t>
            </a:r>
            <a:r>
              <a:rPr sz="2400" dirty="0" err="1"/>
              <a:t>GitHubを使って完成したアプリを管理すること</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C2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732386" cy="646331"/>
          </a:xfrm>
          <a:prstGeom prst="rect">
            <a:avLst/>
          </a:prstGeom>
          <a:noFill/>
        </p:spPr>
        <p:txBody>
          <a:bodyPr wrap="none">
            <a:spAutoFit/>
          </a:bodyPr>
          <a:lstStyle/>
          <a:p>
            <a:pPr>
              <a:defRPr sz="3000" b="1">
                <a:solidFill>
                  <a:srgbClr val="F5F5FA"/>
                </a:solidFill>
              </a:defRPr>
            </a:pPr>
            <a:r>
              <a:rPr lang="en-US" altLang="ja-JP" sz="3600" dirty="0">
                <a:latin typeface="HGS創英角ｺﾞｼｯｸUB" panose="020B0900000000000000" pitchFamily="50" charset="-128"/>
                <a:ea typeface="HGS創英角ｺﾞｼｯｸUB" panose="020B0900000000000000" pitchFamily="50" charset="-128"/>
              </a:rPr>
              <a:t>9</a:t>
            </a:r>
            <a:r>
              <a:rPr sz="3600" dirty="0">
                <a:latin typeface="HGS創英角ｺﾞｼｯｸUB" panose="020B0900000000000000" pitchFamily="50" charset="-128"/>
                <a:ea typeface="HGS創英角ｺﾞｼｯｸUB" panose="020B0900000000000000" pitchFamily="50" charset="-128"/>
              </a:rPr>
              <a:t>. </a:t>
            </a:r>
            <a:r>
              <a:rPr sz="3600" dirty="0" err="1">
                <a:latin typeface="HGP創英角ｺﾞｼｯｸUB" panose="020B0900000000000000" pitchFamily="50" charset="-128"/>
                <a:ea typeface="HGP創英角ｺﾞｼｯｸUB" panose="020B0900000000000000" pitchFamily="50" charset="-128"/>
              </a:rPr>
              <a:t>今後追加したい機能</a:t>
            </a:r>
            <a:endParaRPr sz="3600" dirty="0">
              <a:latin typeface="HGP創英角ｺﾞｼｯｸUB" panose="020B0900000000000000" pitchFamily="50" charset="-128"/>
              <a:ea typeface="HGP創英角ｺﾞｼｯｸUB" panose="020B0900000000000000" pitchFamily="50" charset="-128"/>
            </a:endParaRPr>
          </a:p>
        </p:txBody>
      </p:sp>
      <p:sp>
        <p:nvSpPr>
          <p:cNvPr id="3" name="TextBox 2"/>
          <p:cNvSpPr txBox="1"/>
          <p:nvPr/>
        </p:nvSpPr>
        <p:spPr>
          <a:xfrm>
            <a:off x="822960" y="1625719"/>
            <a:ext cx="10515600" cy="3517245"/>
          </a:xfrm>
          <a:prstGeom prst="rect">
            <a:avLst/>
          </a:prstGeom>
          <a:noFill/>
        </p:spPr>
        <p:txBody>
          <a:bodyPr wrap="square">
            <a:spAutoFit/>
          </a:bodyPr>
          <a:lstStyle/>
          <a:p>
            <a:pPr>
              <a:lnSpc>
                <a:spcPct val="150000"/>
              </a:lnSpc>
              <a:spcAft>
                <a:spcPts val="1400"/>
              </a:spcAft>
              <a:defRPr sz="1900">
                <a:solidFill>
                  <a:srgbClr val="F5F5FA"/>
                </a:solidFill>
              </a:defRPr>
            </a:pPr>
            <a:r>
              <a:rPr sz="2400" dirty="0"/>
              <a:t>● </a:t>
            </a:r>
            <a:r>
              <a:rPr sz="2400" dirty="0" err="1"/>
              <a:t>ランキングや成長グラフをさらに充実させる</a:t>
            </a:r>
            <a:endParaRPr sz="2400" dirty="0"/>
          </a:p>
          <a:p>
            <a:pPr>
              <a:lnSpc>
                <a:spcPct val="150000"/>
              </a:lnSpc>
              <a:spcAft>
                <a:spcPts val="1400"/>
              </a:spcAft>
              <a:defRPr sz="1900">
                <a:solidFill>
                  <a:srgbClr val="F5F5FA"/>
                </a:solidFill>
              </a:defRPr>
            </a:pPr>
            <a:r>
              <a:rPr sz="2400" dirty="0"/>
              <a:t>● </a:t>
            </a:r>
            <a:r>
              <a:rPr sz="2400" dirty="0" err="1"/>
              <a:t>歌唱データを使った、より詳しい分析機能</a:t>
            </a:r>
            <a:endParaRPr sz="2400" dirty="0"/>
          </a:p>
          <a:p>
            <a:pPr>
              <a:lnSpc>
                <a:spcPct val="150000"/>
              </a:lnSpc>
              <a:spcAft>
                <a:spcPts val="1400"/>
              </a:spcAft>
              <a:defRPr sz="1900">
                <a:solidFill>
                  <a:srgbClr val="F5F5FA"/>
                </a:solidFill>
              </a:defRPr>
            </a:pPr>
            <a:r>
              <a:rPr sz="2400" dirty="0"/>
              <a:t>● </a:t>
            </a:r>
            <a:r>
              <a:rPr sz="2400" dirty="0" err="1"/>
              <a:t>カラオケ関連APIなどとの連携</a:t>
            </a:r>
            <a:endParaRPr sz="2400" dirty="0"/>
          </a:p>
          <a:p>
            <a:pPr>
              <a:lnSpc>
                <a:spcPct val="150000"/>
              </a:lnSpc>
              <a:spcAft>
                <a:spcPts val="1400"/>
              </a:spcAft>
              <a:defRPr sz="1900">
                <a:solidFill>
                  <a:srgbClr val="F5F5FA"/>
                </a:solidFill>
              </a:defRPr>
            </a:pPr>
            <a:r>
              <a:rPr sz="2400" dirty="0"/>
              <a:t>● </a:t>
            </a:r>
            <a:r>
              <a:rPr sz="2400" dirty="0" err="1"/>
              <a:t>スマートフォンでの操作性をさらに改善する</a:t>
            </a:r>
            <a:endParaRPr sz="2400" dirty="0"/>
          </a:p>
          <a:p>
            <a:pPr>
              <a:lnSpc>
                <a:spcPct val="150000"/>
              </a:lnSpc>
              <a:spcAft>
                <a:spcPts val="1400"/>
              </a:spcAft>
              <a:defRPr sz="1900">
                <a:solidFill>
                  <a:srgbClr val="F5F5FA"/>
                </a:solidFill>
              </a:defRPr>
            </a:pPr>
            <a:r>
              <a:rPr sz="2400" dirty="0"/>
              <a:t>● </a:t>
            </a:r>
            <a:r>
              <a:rPr sz="2400" dirty="0" err="1"/>
              <a:t>ユーザーが長く使いたくなる機能を追加する</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E688B4-5F68-48CA-AE2A-FF962222F981}"/>
              </a:ext>
            </a:extLst>
          </p:cNvPr>
          <p:cNvSpPr>
            <a:spLocks noGrp="1"/>
          </p:cNvSpPr>
          <p:nvPr>
            <p:ph type="ctrTitle"/>
          </p:nvPr>
        </p:nvSpPr>
        <p:spPr>
          <a:xfrm>
            <a:off x="2137881" y="1949805"/>
            <a:ext cx="7772400" cy="1470025"/>
          </a:xfrm>
        </p:spPr>
        <p:txBody>
          <a:bodyPr>
            <a:normAutofit/>
          </a:bodyPr>
          <a:lstStyle/>
          <a:p>
            <a:pPr>
              <a:defRPr sz="4000" b="1">
                <a:solidFill>
                  <a:srgbClr val="8B5CFF"/>
                </a:solidFill>
              </a:defRPr>
            </a:pPr>
            <a:r>
              <a:rPr lang="ja-JP" altLang="en-US" sz="5400" b="1" dirty="0">
                <a:solidFill>
                  <a:srgbClr val="00B0F0"/>
                </a:solidFill>
                <a:ea typeface="+mn-ea"/>
                <a:cs typeface="+mn-cs"/>
              </a:rPr>
              <a:t>質疑応答</a:t>
            </a:r>
          </a:p>
        </p:txBody>
      </p:sp>
    </p:spTree>
    <p:extLst>
      <p:ext uri="{BB962C8B-B14F-4D97-AF65-F5344CB8AC3E}">
        <p14:creationId xmlns:p14="http://schemas.microsoft.com/office/powerpoint/2010/main" val="916825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石版">
  <a:themeElements>
    <a:clrScheme name="石版">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石版">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石版">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TM04033929[[fn=石版]]</Template>
  <TotalTime>316</TotalTime>
  <Words>246</Words>
  <Application>Microsoft Office PowerPoint</Application>
  <PresentationFormat>ワイド画面</PresentationFormat>
  <Paragraphs>107</Paragraphs>
  <Slides>11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HGP創英角ｺﾞｼｯｸUB</vt:lpstr>
      <vt:lpstr>HGS創英角ｺﾞｼｯｸUB</vt:lpstr>
      <vt:lpstr>HG明朝B</vt:lpstr>
      <vt:lpstr>ＭＳ Ｐゴシック</vt:lpstr>
      <vt:lpstr>Calisto MT</vt:lpstr>
      <vt:lpstr>Trebuchet MS</vt:lpstr>
      <vt:lpstr>Wingdings 2</vt:lpstr>
      <vt:lpstr>石版</vt:lpstr>
      <vt:lpstr>安藤綜太</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質疑応答</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安藤綜太</dc:title>
  <dc:subject/>
  <dc:creator/>
  <cp:keywords/>
  <dc:description>generated using python-pptx</dc:description>
  <cp:lastModifiedBy>2025_CS 安藤 綜太</cp:lastModifiedBy>
  <cp:revision>12</cp:revision>
  <dcterms:created xsi:type="dcterms:W3CDTF">2013-01-27T09:14:16Z</dcterms:created>
  <dcterms:modified xsi:type="dcterms:W3CDTF">2026-10-05T06:40:04Z</dcterms:modified>
  <cp:category/>
</cp:coreProperties>
</file>